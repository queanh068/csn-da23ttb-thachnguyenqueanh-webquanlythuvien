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5113000" cy="21374100"/>
  <p:notesSz cx="6858000" cy="9144000"/>
  <p:embeddedFontLst>
    <p:embeddedFont>
      <p:font typeface="Calibri Bold" panose="020F0702030404030204" pitchFamily="34" charset="0"/>
      <p:bold r:id="rId3"/>
    </p:embeddedFont>
    <p:embeddedFont>
      <p:font typeface="Calibri" panose="020F0502020204030204" pitchFamily="34" charset="0"/>
      <p:regular r:id="rId4"/>
      <p:bold r:id="rId5"/>
      <p:italic r:id="rId6"/>
      <p:boldItalic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7A"/>
    <a:srgbClr val="F2F2EF"/>
    <a:srgbClr val="0027A4"/>
    <a:srgbClr val="002AB0"/>
    <a:srgbClr val="0033CC"/>
    <a:srgbClr val="F69685"/>
    <a:srgbClr val="DDDDDD"/>
    <a:srgbClr val="698B97"/>
    <a:srgbClr val="1E965D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 showGuides="1">
      <p:cViewPr>
        <p:scale>
          <a:sx n="40" d="100"/>
          <a:sy n="40" d="100"/>
        </p:scale>
        <p:origin x="1296" y="-24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ableStyles" Target="tableStyles.xml"/><Relationship Id="rId5" Type="http://schemas.openxmlformats.org/officeDocument/2006/relationships/font" Target="fonts/font3.fntdata"/><Relationship Id="rId10" Type="http://schemas.openxmlformats.org/officeDocument/2006/relationships/theme" Target="theme/theme1.xml"/><Relationship Id="rId4" Type="http://schemas.openxmlformats.org/officeDocument/2006/relationships/font" Target="fonts/font2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24373" y="1162050"/>
            <a:ext cx="15088625" cy="1860322"/>
          </a:xfrm>
          <a:custGeom>
            <a:avLst/>
            <a:gdLst/>
            <a:ahLst/>
            <a:cxnLst/>
            <a:rect l="l" t="t" r="r" b="b"/>
            <a:pathLst>
              <a:path w="2413391" h="522197">
                <a:moveTo>
                  <a:pt x="0" y="0"/>
                </a:moveTo>
                <a:lnTo>
                  <a:pt x="2413391" y="0"/>
                </a:lnTo>
                <a:lnTo>
                  <a:pt x="2413391" y="522197"/>
                </a:lnTo>
                <a:lnTo>
                  <a:pt x="0" y="52219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sp>
      <p:sp>
        <p:nvSpPr>
          <p:cNvPr id="6" name="Freeform 6"/>
          <p:cNvSpPr/>
          <p:nvPr/>
        </p:nvSpPr>
        <p:spPr>
          <a:xfrm>
            <a:off x="53437" y="3143250"/>
            <a:ext cx="7438537" cy="2296161"/>
          </a:xfrm>
          <a:custGeom>
            <a:avLst/>
            <a:gdLst/>
            <a:ahLst/>
            <a:cxnLst/>
            <a:rect l="l" t="t" r="r" b="b"/>
            <a:pathLst>
              <a:path w="1206695" h="468576">
                <a:moveTo>
                  <a:pt x="0" y="0"/>
                </a:moveTo>
                <a:lnTo>
                  <a:pt x="1206695" y="0"/>
                </a:lnTo>
                <a:lnTo>
                  <a:pt x="1206695" y="468576"/>
                </a:lnTo>
                <a:lnTo>
                  <a:pt x="0" y="46857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24372" y="5730485"/>
            <a:ext cx="7439725" cy="2899165"/>
            <a:chOff x="0" y="0"/>
            <a:chExt cx="1206695" cy="130640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06695" cy="1306406"/>
            </a:xfrm>
            <a:custGeom>
              <a:avLst/>
              <a:gdLst/>
              <a:ahLst/>
              <a:cxnLst/>
              <a:rect l="l" t="t" r="r" b="b"/>
              <a:pathLst>
                <a:path w="1206695" h="1306406">
                  <a:moveTo>
                    <a:pt x="0" y="0"/>
                  </a:moveTo>
                  <a:lnTo>
                    <a:pt x="1206695" y="0"/>
                  </a:lnTo>
                  <a:lnTo>
                    <a:pt x="1206695" y="1306406"/>
                  </a:lnTo>
                  <a:lnTo>
                    <a:pt x="0" y="130640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28575" cap="sq" cmpd="sng">
              <a:solidFill>
                <a:schemeClr val="tx1"/>
              </a:solidFill>
              <a:prstDash val="lgDashDot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206695" cy="13540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 cap="sq" cmpd="sng">
              <a:solidFill>
                <a:schemeClr val="tx1"/>
              </a:solidFill>
              <a:prstDash val="lgDashDot"/>
              <a:miter/>
            </a:ln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4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628999" y="3367386"/>
            <a:ext cx="7395102" cy="2072026"/>
            <a:chOff x="0" y="0"/>
            <a:chExt cx="1170533" cy="46585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70533" cy="465858"/>
            </a:xfrm>
            <a:custGeom>
              <a:avLst/>
              <a:gdLst/>
              <a:ahLst/>
              <a:cxnLst/>
              <a:rect l="l" t="t" r="r" b="b"/>
              <a:pathLst>
                <a:path w="1170533" h="465858">
                  <a:moveTo>
                    <a:pt x="0" y="0"/>
                  </a:moveTo>
                  <a:lnTo>
                    <a:pt x="1170533" y="0"/>
                  </a:lnTo>
                  <a:lnTo>
                    <a:pt x="1170533" y="465858"/>
                  </a:lnTo>
                  <a:lnTo>
                    <a:pt x="0" y="46585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28575" cap="sq" cmpd="sng">
              <a:solidFill>
                <a:schemeClr val="tx1"/>
              </a:solidFill>
              <a:prstDash val="lgDashDot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170533" cy="51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 cap="sq" cmpd="sng">
              <a:solidFill>
                <a:schemeClr val="tx1"/>
              </a:solidFill>
              <a:prstDash val="lgDashDot"/>
              <a:miter/>
            </a:ln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4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53437" y="11854725"/>
            <a:ext cx="7410660" cy="2766923"/>
          </a:xfrm>
          <a:custGeom>
            <a:avLst/>
            <a:gdLst/>
            <a:ahLst/>
            <a:cxnLst/>
            <a:rect l="l" t="t" r="r" b="b"/>
            <a:pathLst>
              <a:path w="1206695" h="829268">
                <a:moveTo>
                  <a:pt x="0" y="0"/>
                </a:moveTo>
                <a:lnTo>
                  <a:pt x="1206695" y="0"/>
                </a:lnTo>
                <a:lnTo>
                  <a:pt x="1206695" y="829268"/>
                </a:lnTo>
                <a:lnTo>
                  <a:pt x="0" y="82926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sp>
      <p:sp>
        <p:nvSpPr>
          <p:cNvPr id="22" name="AutoShape 22"/>
          <p:cNvSpPr/>
          <p:nvPr/>
        </p:nvSpPr>
        <p:spPr>
          <a:xfrm>
            <a:off x="77598" y="3790821"/>
            <a:ext cx="465950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3" name="AutoShape 23"/>
          <p:cNvSpPr/>
          <p:nvPr/>
        </p:nvSpPr>
        <p:spPr>
          <a:xfrm>
            <a:off x="12700" y="6228609"/>
            <a:ext cx="503934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4" name="AutoShape 24"/>
          <p:cNvSpPr/>
          <p:nvPr/>
        </p:nvSpPr>
        <p:spPr>
          <a:xfrm>
            <a:off x="7632700" y="3763319"/>
            <a:ext cx="4115253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AutoShape 25"/>
          <p:cNvSpPr/>
          <p:nvPr/>
        </p:nvSpPr>
        <p:spPr>
          <a:xfrm>
            <a:off x="59560" y="12547712"/>
            <a:ext cx="49823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7" name="Freeform 27"/>
          <p:cNvSpPr/>
          <p:nvPr/>
        </p:nvSpPr>
        <p:spPr>
          <a:xfrm>
            <a:off x="53437" y="18281094"/>
            <a:ext cx="7438538" cy="2871000"/>
          </a:xfrm>
          <a:custGeom>
            <a:avLst/>
            <a:gdLst/>
            <a:ahLst/>
            <a:cxnLst/>
            <a:rect l="l" t="t" r="r" b="b"/>
            <a:pathLst>
              <a:path w="1170533" h="459942">
                <a:moveTo>
                  <a:pt x="0" y="0"/>
                </a:moveTo>
                <a:lnTo>
                  <a:pt x="1170533" y="0"/>
                </a:lnTo>
                <a:lnTo>
                  <a:pt x="1170533" y="459942"/>
                </a:lnTo>
                <a:lnTo>
                  <a:pt x="0" y="45994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sp>
      <p:sp>
        <p:nvSpPr>
          <p:cNvPr id="29" name="AutoShape 29"/>
          <p:cNvSpPr/>
          <p:nvPr/>
        </p:nvSpPr>
        <p:spPr>
          <a:xfrm>
            <a:off x="12700" y="19025234"/>
            <a:ext cx="46340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6" name="TextBox 36"/>
          <p:cNvSpPr txBox="1"/>
          <p:nvPr/>
        </p:nvSpPr>
        <p:spPr>
          <a:xfrm>
            <a:off x="622300" y="1210168"/>
            <a:ext cx="13716000" cy="1916747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sz="6000" b="1">
                <a:solidFill>
                  <a:srgbClr val="001D7A"/>
                </a:solidFill>
                <a:latin typeface="Calibri Bold" panose="020F0702030404030204" pitchFamily="34" charset="0"/>
                <a:ea typeface="Touvlo" panose="020B0604030403020204"/>
                <a:cs typeface="Calibri Bold" panose="020F0702030404030204" pitchFamily="34" charset="0"/>
                <a:sym typeface="Touvlo" panose="020B0604030403020204"/>
              </a:rPr>
              <a:t>THIẾT KẾ WEBSITE QUẢN LÝ THƯ VIỆN </a:t>
            </a:r>
            <a:r>
              <a:rPr lang="en-US" sz="6000" b="1" smtClean="0">
                <a:solidFill>
                  <a:srgbClr val="001D7A"/>
                </a:solidFill>
                <a:latin typeface="Calibri Bold" panose="020F0702030404030204" pitchFamily="34" charset="0"/>
                <a:ea typeface="Touvlo" panose="020B0604030403020204"/>
                <a:cs typeface="Calibri Bold" panose="020F0702030404030204" pitchFamily="34" charset="0"/>
                <a:sym typeface="Touvlo" panose="020B0604030403020204"/>
              </a:rPr>
              <a:t>TRƯỜNG </a:t>
            </a:r>
            <a:r>
              <a:rPr lang="en-US" sz="6000" b="1">
                <a:solidFill>
                  <a:srgbClr val="001D7A"/>
                </a:solidFill>
                <a:latin typeface="Calibri Bold" panose="020F0702030404030204" pitchFamily="34" charset="0"/>
                <a:ea typeface="Touvlo" panose="020B0604030403020204"/>
                <a:cs typeface="Calibri Bold" panose="020F0702030404030204" pitchFamily="34" charset="0"/>
                <a:sym typeface="Touvlo" panose="020B0604030403020204"/>
              </a:rPr>
              <a:t>ĐẠI HỌC TRÀ VINH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80992" y="3329156"/>
            <a:ext cx="486090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90"/>
              </a:lnSpc>
            </a:pPr>
            <a:r>
              <a:rPr lang="en-US" sz="3200" b="1" spc="364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LÝ DO CHỌN ĐỀ TÀI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3437" y="5734050"/>
            <a:ext cx="6944702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3200" b="1" spc="250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PHÂN TÍCH VÀ THIẾT KẾ HỆ THỐNG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06890" y="12035625"/>
            <a:ext cx="4911210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90"/>
              </a:lnSpc>
            </a:pPr>
            <a:r>
              <a:rPr lang="en-US" sz="3200" b="1" spc="364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KẾT QUẢ ĐẠT ĐƯỢC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37" y="18563569"/>
            <a:ext cx="6349937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90"/>
              </a:lnSpc>
            </a:pPr>
            <a:r>
              <a:rPr lang="en-US" sz="3200" b="1" spc="364" smtClean="0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HƯỚNG PHÁT TRIỂN</a:t>
            </a:r>
            <a:endParaRPr lang="en-US" sz="3200" b="1" spc="364">
              <a:solidFill>
                <a:srgbClr val="001D7A"/>
              </a:solidFill>
              <a:latin typeface="Calibri Bold" panose="020F0702030404030204" pitchFamily="34" charset="0"/>
              <a:ea typeface="Touvlo Bold" panose="020B0804030403020204"/>
              <a:cs typeface="Calibri Bold" panose="020F0702030404030204" pitchFamily="34" charset="0"/>
              <a:sym typeface="Touvlo Bold" panose="020B0804030403020204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-79704" y="4063357"/>
            <a:ext cx="7543801" cy="14157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01320" lvl="1" indent="-200660" algn="l"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Quản lý thư viện thủ công còn nhiều hạn chế.</a:t>
            </a:r>
          </a:p>
          <a:p>
            <a:pPr marL="401320" lvl="1" indent="-200660" algn="l"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Khó tra cứu, dễ sai sót dữ liệu.</a:t>
            </a:r>
          </a:p>
          <a:p>
            <a:pPr marL="401320" lvl="1" indent="-200660" algn="l"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Ứng dụng CNTT giúp tự động hóa quản lý thư viện.</a:t>
            </a:r>
          </a:p>
          <a:p>
            <a:pPr algn="l"/>
            <a:endParaRPr lang="en-US" sz="2000">
              <a:solidFill>
                <a:srgbClr val="000000"/>
              </a:solidFill>
              <a:latin typeface="Touvlo" panose="020B0604030403020204"/>
              <a:ea typeface="Touvlo" panose="020B0604030403020204"/>
              <a:cs typeface="Touvlo" panose="020B0604030403020204"/>
              <a:sym typeface="Touvlo" panose="020B060403040302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7556499" y="3812276"/>
            <a:ext cx="4197247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01320" lvl="1" indent="-200660" algn="l"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Quản lý thông tin sách</a:t>
            </a:r>
          </a:p>
          <a:p>
            <a:pPr marL="401320" lvl="1" indent="-200660" algn="l"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Quản lý độc giả</a:t>
            </a:r>
          </a:p>
          <a:p>
            <a:pPr marL="401320" lvl="1" indent="-200660" algn="l"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Quản lý mượn – trả sách</a:t>
            </a:r>
          </a:p>
          <a:p>
            <a:pPr marL="401320" lvl="1" indent="-200660" algn="l"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Thống kê và báo cáo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17921" y="6267450"/>
            <a:ext cx="6753504" cy="2677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Phân tích yêu cầu người dùng (Admin).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Thiết kế sơ đồ Use Case mô tả các chức năng hệ thống.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Thiết kế cơ sở dữ liệu bằng sơ đồ ERD.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>
              <a:solidFill>
                <a:srgbClr val="000000"/>
              </a:solidFill>
              <a:latin typeface="Touvlo" panose="020B0604030403020204"/>
              <a:ea typeface="Touvlo" panose="020B0604030403020204"/>
              <a:cs typeface="Touvlo" panose="020B0604030403020204"/>
              <a:sym typeface="Touvlo" panose="020B0604030403020204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65100" y="12658050"/>
            <a:ext cx="6361739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Xây dựng thành công website quản lý thư viện.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Giao diện thân thiện, dễ sử dụng.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Hệ thống hỗ trợ quản lý hiệu quả hơn so với phương pháp thủ công.</a:t>
            </a:r>
          </a:p>
          <a:p>
            <a:pPr algn="l"/>
            <a:endParaRPr lang="en-US" sz="2400">
              <a:solidFill>
                <a:srgbClr val="000000"/>
              </a:solidFill>
              <a:latin typeface="Arial" panose="020B0604020202020204" pitchFamily="34" charset="0"/>
              <a:ea typeface="Touvlo" panose="020B0604030403020204"/>
              <a:cs typeface="Arial" panose="020B0604020202020204" pitchFamily="34" charset="0"/>
              <a:sym typeface="Touvlo" panose="020B0604030403020204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133338" y="19159447"/>
            <a:ext cx="6393501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57505" lvl="1" indent="-178435">
              <a:buFont typeface="Arial" panose="020B0604020202020204"/>
              <a:buChar char="•"/>
            </a:pPr>
            <a:r>
              <a:rPr lang="vi-VN" sz="2400">
                <a:solidFill>
                  <a:srgbClr val="000000"/>
                </a:solidFill>
                <a:ea typeface="Inter"/>
                <a:cs typeface="Arial" panose="020B0604020202020204" pitchFamily="34" charset="0"/>
                <a:sym typeface="Inter"/>
              </a:rPr>
              <a:t>Tích hợp mã vạch để tự động hóa quy trình mượn – trả</a:t>
            </a:r>
            <a:r>
              <a:rPr lang="vi-VN" sz="2400">
                <a:solidFill>
                  <a:srgbClr val="000000"/>
                </a:solidFill>
                <a:ea typeface="Inter"/>
                <a:cs typeface="Arial" panose="020B0604020202020204" pitchFamily="34" charset="0"/>
                <a:sym typeface="Inter"/>
              </a:rPr>
              <a:t>. </a:t>
            </a:r>
            <a:endParaRPr lang="en-US" sz="2400" smtClean="0">
              <a:solidFill>
                <a:srgbClr val="000000"/>
              </a:solidFill>
              <a:ea typeface="Inter"/>
              <a:cs typeface="Arial" panose="020B0604020202020204" pitchFamily="34" charset="0"/>
              <a:sym typeface="Inte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>
                <a:solidFill>
                  <a:srgbClr val="000000"/>
                </a:solidFill>
                <a:ea typeface="Inter"/>
                <a:cs typeface="Arial" panose="020B0604020202020204" pitchFamily="34" charset="0"/>
                <a:sym typeface="Inter"/>
              </a:rPr>
              <a:t>Bổ sung chức năng đặt sách trực tuyến, gia hạn mượn.</a:t>
            </a:r>
            <a:endParaRPr lang="en-US" sz="2400">
              <a:solidFill>
                <a:srgbClr val="000000"/>
              </a:solidFill>
              <a:latin typeface="Arial" panose="020B0604020202020204" pitchFamily="34" charset="0"/>
              <a:ea typeface="Inter"/>
              <a:cs typeface="Arial" panose="020B0604020202020204" pitchFamily="34" charset="0"/>
              <a:sym typeface="Inter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7690142" y="3229919"/>
            <a:ext cx="4285958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00"/>
              </a:lnSpc>
              <a:spcBef>
                <a:spcPct val="0"/>
              </a:spcBef>
            </a:pPr>
            <a:r>
              <a:rPr lang="en-US" sz="3200" b="1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CHỨC NĂNG CHÍNH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7660058" y="9046636"/>
            <a:ext cx="7364042" cy="2375873"/>
            <a:chOff x="0" y="0"/>
            <a:chExt cx="1170533" cy="465858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1170533" cy="465858"/>
            </a:xfrm>
            <a:custGeom>
              <a:avLst/>
              <a:gdLst/>
              <a:ahLst/>
              <a:cxnLst/>
              <a:rect l="l" t="t" r="r" b="b"/>
              <a:pathLst>
                <a:path w="1170533" h="465858">
                  <a:moveTo>
                    <a:pt x="0" y="0"/>
                  </a:moveTo>
                  <a:lnTo>
                    <a:pt x="1170533" y="0"/>
                  </a:lnTo>
                  <a:lnTo>
                    <a:pt x="1170533" y="465858"/>
                  </a:lnTo>
                  <a:lnTo>
                    <a:pt x="0" y="46585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28575" cap="sq" cmpd="sng">
              <a:solidFill>
                <a:schemeClr val="tx1"/>
              </a:solidFill>
              <a:prstDash val="lgDashDot"/>
              <a:miter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1170533" cy="51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 cap="sq" cmpd="sng">
              <a:solidFill>
                <a:schemeClr val="tx1"/>
              </a:solidFill>
              <a:prstDash val="lgDashDot"/>
              <a:miter/>
            </a:ln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4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7842542" y="8934450"/>
            <a:ext cx="4285958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00"/>
              </a:lnSpc>
              <a:spcBef>
                <a:spcPct val="0"/>
              </a:spcBef>
            </a:pPr>
            <a:r>
              <a:rPr lang="en-US" sz="3200" b="1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MỤC TIÊU ĐỀ TÀI</a:t>
            </a:r>
          </a:p>
        </p:txBody>
      </p:sp>
      <p:sp>
        <p:nvSpPr>
          <p:cNvPr id="55" name="AutoShape 55"/>
          <p:cNvSpPr/>
          <p:nvPr/>
        </p:nvSpPr>
        <p:spPr>
          <a:xfrm>
            <a:off x="7632700" y="9467850"/>
            <a:ext cx="4115253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6" name="TextBox 56"/>
          <p:cNvSpPr txBox="1"/>
          <p:nvPr/>
        </p:nvSpPr>
        <p:spPr>
          <a:xfrm>
            <a:off x="7556500" y="9544050"/>
            <a:ext cx="5716505" cy="2147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1320" lvl="1" indent="-20066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Xây dựng website quản lý thư viện.</a:t>
            </a:r>
          </a:p>
          <a:p>
            <a:pPr marL="401320" lvl="1" indent="-20066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Quản lý sách, độc giả, mượn – trả.</a:t>
            </a:r>
          </a:p>
          <a:p>
            <a:pPr marL="401320" lvl="1" indent="-20066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 panose="020B0604030403020204"/>
                <a:cs typeface="Arial" panose="020B0604020202020204" pitchFamily="34" charset="0"/>
                <a:sym typeface="Touvlo" panose="020B0604030403020204"/>
              </a:rPr>
              <a:t>Giao diện thân thiện, dễ sử dụng.</a:t>
            </a:r>
          </a:p>
          <a:p>
            <a:pPr algn="l">
              <a:lnSpc>
                <a:spcPct val="150000"/>
              </a:lnSpc>
            </a:pPr>
            <a:endParaRPr lang="en-US" sz="2400">
              <a:solidFill>
                <a:srgbClr val="000000"/>
              </a:solidFill>
              <a:latin typeface="Arial" panose="020B0604020202020204" pitchFamily="34" charset="0"/>
              <a:ea typeface="Touvlo" panose="020B0604030403020204"/>
              <a:cs typeface="Arial" panose="020B0604020202020204" pitchFamily="34" charset="0"/>
              <a:sym typeface="Touvlo" panose="020B0604030403020204"/>
            </a:endParaRPr>
          </a:p>
        </p:txBody>
      </p:sp>
      <p:pic>
        <p:nvPicPr>
          <p:cNvPr id="59" name="Picture 5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935" y="18355018"/>
            <a:ext cx="7278165" cy="279707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pic>
      <p:pic>
        <p:nvPicPr>
          <p:cNvPr id="61" name="Picture 60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6" y="14801850"/>
            <a:ext cx="7438537" cy="32848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pic>
      <p:pic>
        <p:nvPicPr>
          <p:cNvPr id="62" name="Picture 61"/>
          <p:cNvPicPr/>
          <p:nvPr/>
        </p:nvPicPr>
        <p:blipFill>
          <a:blip r:embed="rId4"/>
          <a:stretch>
            <a:fillRect/>
          </a:stretch>
        </p:blipFill>
        <p:spPr>
          <a:xfrm>
            <a:off x="24372" y="8782050"/>
            <a:ext cx="7439725" cy="296233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pic>
      <p:sp>
        <p:nvSpPr>
          <p:cNvPr id="60" name="Freeform 3"/>
          <p:cNvSpPr/>
          <p:nvPr/>
        </p:nvSpPr>
        <p:spPr>
          <a:xfrm>
            <a:off x="0" y="1"/>
            <a:ext cx="15112999" cy="1089989"/>
          </a:xfrm>
          <a:custGeom>
            <a:avLst/>
            <a:gdLst/>
            <a:ahLst/>
            <a:cxnLst/>
            <a:rect l="l" t="t" r="r" b="b"/>
            <a:pathLst>
              <a:path w="2413391" h="522197">
                <a:moveTo>
                  <a:pt x="0" y="0"/>
                </a:moveTo>
                <a:lnTo>
                  <a:pt x="2413391" y="0"/>
                </a:lnTo>
                <a:lnTo>
                  <a:pt x="2413391" y="522197"/>
                </a:lnTo>
                <a:lnTo>
                  <a:pt x="0" y="52219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52" y="61470"/>
            <a:ext cx="936184" cy="936184"/>
          </a:xfrm>
          <a:prstGeom prst="rect">
            <a:avLst/>
          </a:prstGeom>
        </p:spPr>
      </p:pic>
      <p:sp>
        <p:nvSpPr>
          <p:cNvPr id="68" name="TextBox 37"/>
          <p:cNvSpPr txBox="1"/>
          <p:nvPr/>
        </p:nvSpPr>
        <p:spPr>
          <a:xfrm>
            <a:off x="1101284" y="140321"/>
            <a:ext cx="6644651" cy="8756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90"/>
              </a:lnSpc>
            </a:pPr>
            <a:r>
              <a:rPr lang="en-US" sz="2000" b="1" spc="364" smtClean="0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TRƯỜNG KỸ THUẬT VÀ CÔNG NGHỆ 	</a:t>
            </a:r>
            <a:endParaRPr lang="en-US" sz="2000" b="1" spc="364" smtClean="0">
              <a:solidFill>
                <a:srgbClr val="001D7A"/>
              </a:solidFill>
              <a:latin typeface="Calibri Bold" panose="020F0702030404030204" pitchFamily="34" charset="0"/>
              <a:ea typeface="Touvlo Bold" panose="020B0804030403020204"/>
              <a:cs typeface="Calibri Bold" panose="020F0702030404030204" pitchFamily="34" charset="0"/>
              <a:sym typeface="Touvlo Bold" panose="020B0804030403020204"/>
            </a:endParaRPr>
          </a:p>
          <a:p>
            <a:pPr algn="ctr">
              <a:lnSpc>
                <a:spcPts val="3590"/>
              </a:lnSpc>
            </a:pPr>
            <a:r>
              <a:rPr lang="en-US" sz="2000" b="1" spc="364" smtClean="0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TRƯỜNG </a:t>
            </a:r>
            <a:r>
              <a:rPr lang="en-US" sz="2000" b="1" spc="364" smtClean="0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ĐẠI HỌC TRÀ VINH</a:t>
            </a:r>
            <a:endParaRPr lang="en-US" sz="2000" b="1" spc="364">
              <a:solidFill>
                <a:srgbClr val="001D7A"/>
              </a:solidFill>
              <a:latin typeface="Calibri Bold" panose="020F0702030404030204" pitchFamily="34" charset="0"/>
              <a:ea typeface="Touvlo Bold" panose="020B0804030403020204"/>
              <a:cs typeface="Calibri Bold" panose="020F0702030404030204" pitchFamily="34" charset="0"/>
              <a:sym typeface="Touvlo Bold" panose="020B08040304030202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8318500" y="109703"/>
            <a:ext cx="0" cy="90624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TextBox 37"/>
          <p:cNvSpPr txBox="1"/>
          <p:nvPr/>
        </p:nvSpPr>
        <p:spPr>
          <a:xfrm>
            <a:off x="8536922" y="166660"/>
            <a:ext cx="6644651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90"/>
              </a:lnSpc>
            </a:pPr>
            <a:r>
              <a:rPr lang="en-US" b="1" spc="364" smtClean="0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GVHD: TS.ĐOÀN PHƯỚC MIỀN</a:t>
            </a:r>
          </a:p>
          <a:p>
            <a:pPr>
              <a:lnSpc>
                <a:spcPts val="3590"/>
              </a:lnSpc>
            </a:pPr>
            <a:r>
              <a:rPr lang="en-US" b="1" spc="364" smtClean="0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SVTH: THẠCH NGUYỄN QUẾ ANH</a:t>
            </a:r>
            <a:endParaRPr lang="en-US" b="1" spc="364">
              <a:solidFill>
                <a:srgbClr val="001D7A"/>
              </a:solidFill>
              <a:latin typeface="Calibri Bold" panose="020F0702030404030204" pitchFamily="34" charset="0"/>
              <a:ea typeface="Touvlo Bold" panose="020B0804030403020204"/>
              <a:cs typeface="Calibri Bold" panose="020F0702030404030204" pitchFamily="34" charset="0"/>
              <a:sym typeface="Touvlo Bold" panose="020B0804030403020204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2895" y="5581650"/>
            <a:ext cx="7301205" cy="30480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6903" y="11601450"/>
            <a:ext cx="7357197" cy="30430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570" y="14823422"/>
            <a:ext cx="7356529" cy="326325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 cap="sq" cmpd="sng">
            <a:solidFill>
              <a:schemeClr val="tx1"/>
            </a:solidFill>
            <a:prstDash val="lgDashDot"/>
            <a:miter/>
          </a:ln>
        </p:spPr>
      </p:pic>
      <p:sp>
        <p:nvSpPr>
          <p:cNvPr id="58" name="TextBox 54"/>
          <p:cNvSpPr txBox="1"/>
          <p:nvPr/>
        </p:nvSpPr>
        <p:spPr>
          <a:xfrm>
            <a:off x="9230518" y="14938627"/>
            <a:ext cx="4285958" cy="51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200" b="1" smtClean="0">
                <a:solidFill>
                  <a:srgbClr val="001D7A"/>
                </a:solidFill>
                <a:latin typeface="Calibri Bold" panose="020F0702030404030204" pitchFamily="34" charset="0"/>
                <a:ea typeface="Touvlo Bold" panose="020B0804030403020204"/>
                <a:cs typeface="Calibri Bold" panose="020F0702030404030204" pitchFamily="34" charset="0"/>
                <a:sym typeface="Touvlo Bold" panose="020B0804030403020204"/>
              </a:rPr>
              <a:t>CÔNG CỤ SỬ DỤNG</a:t>
            </a:r>
            <a:endParaRPr lang="en-US" sz="3200" b="1">
              <a:solidFill>
                <a:srgbClr val="001D7A"/>
              </a:solidFill>
              <a:latin typeface="Calibri Bold" panose="020F0702030404030204" pitchFamily="34" charset="0"/>
              <a:ea typeface="Touvlo Bold" panose="020B0804030403020204"/>
              <a:cs typeface="Calibri Bold" panose="020F0702030404030204" pitchFamily="34" charset="0"/>
              <a:sym typeface="Touvlo Bold" panose="020B0804030403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236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Calibri Bold</vt:lpstr>
      <vt:lpstr>Arial</vt:lpstr>
      <vt:lpstr>Touvlo Bold</vt:lpstr>
      <vt:lpstr>Touvlo</vt:lpstr>
      <vt:lpstr>Inter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Persuasive Research Poster in Orange Modern Simple Style</dc:title>
  <dc:creator/>
  <cp:lastModifiedBy>Microsoft account</cp:lastModifiedBy>
  <cp:revision>19</cp:revision>
  <dcterms:created xsi:type="dcterms:W3CDTF">2006-08-16T00:00:00Z</dcterms:created>
  <dcterms:modified xsi:type="dcterms:W3CDTF">2026-01-05T07:38:11Z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F614A719CD2C46C1B24C71A7F9BF8F69_12</vt:lpwstr>
  </property>
  <property fmtid="{D5CDD505-2E9C-101B-9397-08002B2CF9AE}" pid="3" name="KSOProductBuildVer">
    <vt:lpwstr>1033-12.2.0.23196</vt:lpwstr>
  </property>
</Properties>
</file>