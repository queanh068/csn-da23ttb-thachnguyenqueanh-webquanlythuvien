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alibri Bold" panose="020F0702030404030204" pitchFamily="34" charset="0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7A"/>
    <a:srgbClr val="F2F2EF"/>
    <a:srgbClr val="0027A4"/>
    <a:srgbClr val="002AB0"/>
    <a:srgbClr val="0033CC"/>
    <a:srgbClr val="F69685"/>
    <a:srgbClr val="DDDDDD"/>
    <a:srgbClr val="698B97"/>
    <a:srgbClr val="1E965D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40" d="100"/>
          <a:sy n="40" d="100"/>
        </p:scale>
        <p:origin x="1296" y="-16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373" y="1568094"/>
            <a:ext cx="15088625" cy="1860322"/>
          </a:xfrm>
          <a:custGeom>
            <a:avLst/>
            <a:gdLst/>
            <a:ahLst/>
            <a:cxnLst/>
            <a:rect l="l" t="t" r="r" b="b"/>
            <a:pathLst>
              <a:path w="2413391" h="522197">
                <a:moveTo>
                  <a:pt x="0" y="0"/>
                </a:moveTo>
                <a:lnTo>
                  <a:pt x="2413391" y="0"/>
                </a:lnTo>
                <a:lnTo>
                  <a:pt x="2413391" y="522197"/>
                </a:lnTo>
                <a:lnTo>
                  <a:pt x="0" y="52219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sp>
      <p:sp>
        <p:nvSpPr>
          <p:cNvPr id="6" name="Freeform 6"/>
          <p:cNvSpPr/>
          <p:nvPr/>
        </p:nvSpPr>
        <p:spPr>
          <a:xfrm>
            <a:off x="53437" y="3562479"/>
            <a:ext cx="7438537" cy="2296161"/>
          </a:xfrm>
          <a:custGeom>
            <a:avLst/>
            <a:gdLst/>
            <a:ahLst/>
            <a:cxnLst/>
            <a:rect l="l" t="t" r="r" b="b"/>
            <a:pathLst>
              <a:path w="1206695" h="468576">
                <a:moveTo>
                  <a:pt x="0" y="0"/>
                </a:moveTo>
                <a:lnTo>
                  <a:pt x="1206695" y="0"/>
                </a:lnTo>
                <a:lnTo>
                  <a:pt x="1206695" y="468576"/>
                </a:lnTo>
                <a:lnTo>
                  <a:pt x="0" y="468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24372" y="6074126"/>
            <a:ext cx="7439725" cy="2899165"/>
            <a:chOff x="0" y="0"/>
            <a:chExt cx="1206695" cy="13064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6695" cy="1306406"/>
            </a:xfrm>
            <a:custGeom>
              <a:avLst/>
              <a:gdLst/>
              <a:ahLst/>
              <a:cxnLst/>
              <a:rect l="l" t="t" r="r" b="b"/>
              <a:pathLst>
                <a:path w="1206695" h="1306406">
                  <a:moveTo>
                    <a:pt x="0" y="0"/>
                  </a:moveTo>
                  <a:lnTo>
                    <a:pt x="1206695" y="0"/>
                  </a:lnTo>
                  <a:lnTo>
                    <a:pt x="1206695" y="1306406"/>
                  </a:lnTo>
                  <a:lnTo>
                    <a:pt x="0" y="130640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06695" cy="13540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  <p:txBody>
            <a:bodyPr lIns="44941" tIns="44941" rIns="44941" bIns="44941" rtlCol="0" anchor="ctr"/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8999" y="3748385"/>
            <a:ext cx="7395102" cy="2138065"/>
            <a:chOff x="0" y="0"/>
            <a:chExt cx="1170533" cy="4658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0533" cy="465858"/>
            </a:xfrm>
            <a:custGeom>
              <a:avLst/>
              <a:gdLst/>
              <a:ahLst/>
              <a:cxnLst/>
              <a:rect l="l" t="t" r="r" b="b"/>
              <a:pathLst>
                <a:path w="1170533" h="465858">
                  <a:moveTo>
                    <a:pt x="0" y="0"/>
                  </a:moveTo>
                  <a:lnTo>
                    <a:pt x="1170533" y="0"/>
                  </a:lnTo>
                  <a:lnTo>
                    <a:pt x="1170533" y="465858"/>
                  </a:lnTo>
                  <a:lnTo>
                    <a:pt x="0" y="4658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70533" cy="5134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  <p:txBody>
            <a:bodyPr lIns="44941" tIns="44941" rIns="44941" bIns="44941" rtlCol="0" anchor="ctr"/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3437" y="12127663"/>
            <a:ext cx="7410660" cy="2766923"/>
          </a:xfrm>
          <a:custGeom>
            <a:avLst/>
            <a:gdLst/>
            <a:ahLst/>
            <a:cxnLst/>
            <a:rect l="l" t="t" r="r" b="b"/>
            <a:pathLst>
              <a:path w="1206695" h="829268">
                <a:moveTo>
                  <a:pt x="0" y="0"/>
                </a:moveTo>
                <a:lnTo>
                  <a:pt x="1206695" y="0"/>
                </a:lnTo>
                <a:lnTo>
                  <a:pt x="1206695" y="829268"/>
                </a:lnTo>
                <a:lnTo>
                  <a:pt x="0" y="8292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7745935" y="16097250"/>
            <a:ext cx="7278165" cy="2227659"/>
            <a:chOff x="0" y="0"/>
            <a:chExt cx="1170533" cy="3817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70533" cy="381732"/>
            </a:xfrm>
            <a:custGeom>
              <a:avLst/>
              <a:gdLst/>
              <a:ahLst/>
              <a:cxnLst/>
              <a:rect l="l" t="t" r="r" b="b"/>
              <a:pathLst>
                <a:path w="1170533" h="381732">
                  <a:moveTo>
                    <a:pt x="0" y="0"/>
                  </a:moveTo>
                  <a:lnTo>
                    <a:pt x="1170533" y="0"/>
                  </a:lnTo>
                  <a:lnTo>
                    <a:pt x="1170533" y="381732"/>
                  </a:lnTo>
                  <a:lnTo>
                    <a:pt x="0" y="38173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70533" cy="4293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  <p:txBody>
            <a:bodyPr lIns="44941" tIns="44941" rIns="44941" bIns="44941" rtlCol="0" anchor="ctr"/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77598" y="4210050"/>
            <a:ext cx="465950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12700" y="6572250"/>
            <a:ext cx="503934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632700" y="4144319"/>
            <a:ext cx="411525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59560" y="12820650"/>
            <a:ext cx="49823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53437" y="18324910"/>
            <a:ext cx="7438538" cy="2871000"/>
          </a:xfrm>
          <a:custGeom>
            <a:avLst/>
            <a:gdLst/>
            <a:ahLst/>
            <a:cxnLst/>
            <a:rect l="l" t="t" r="r" b="b"/>
            <a:pathLst>
              <a:path w="1170533" h="459942">
                <a:moveTo>
                  <a:pt x="0" y="0"/>
                </a:moveTo>
                <a:lnTo>
                  <a:pt x="1170533" y="0"/>
                </a:lnTo>
                <a:lnTo>
                  <a:pt x="1170533" y="459942"/>
                </a:lnTo>
                <a:lnTo>
                  <a:pt x="0" y="4599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sp>
      <p:sp>
        <p:nvSpPr>
          <p:cNvPr id="29" name="AutoShape 29"/>
          <p:cNvSpPr/>
          <p:nvPr/>
        </p:nvSpPr>
        <p:spPr>
          <a:xfrm>
            <a:off x="12700" y="19069050"/>
            <a:ext cx="46340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622300" y="1616212"/>
            <a:ext cx="13716000" cy="1916747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6000" b="1">
                <a:solidFill>
                  <a:srgbClr val="001D7A"/>
                </a:solidFill>
                <a:latin typeface="Calibri Bold" panose="020F0702030404030204" pitchFamily="34" charset="0"/>
                <a:ea typeface="Touvlo" panose="020B0604030403020204"/>
                <a:cs typeface="Calibri Bold" panose="020F0702030404030204" pitchFamily="34" charset="0"/>
                <a:sym typeface="Touvlo" panose="020B0604030403020204"/>
              </a:rPr>
              <a:t>THIẾT KẾ WEBSITE QUẢN LÝ THƯ VIỆN </a:t>
            </a:r>
            <a:r>
              <a:rPr lang="en-US" sz="6000" b="1" smtClean="0">
                <a:solidFill>
                  <a:srgbClr val="001D7A"/>
                </a:solidFill>
                <a:latin typeface="Calibri Bold" panose="020F0702030404030204" pitchFamily="34" charset="0"/>
                <a:ea typeface="Touvlo" panose="020B0604030403020204"/>
                <a:cs typeface="Calibri Bold" panose="020F0702030404030204" pitchFamily="34" charset="0"/>
                <a:sym typeface="Touvlo" panose="020B0604030403020204"/>
              </a:rPr>
              <a:t>TRƯỜNG </a:t>
            </a:r>
            <a:r>
              <a:rPr lang="en-US" sz="6000" b="1">
                <a:solidFill>
                  <a:srgbClr val="001D7A"/>
                </a:solidFill>
                <a:latin typeface="Calibri Bold" panose="020F0702030404030204" pitchFamily="34" charset="0"/>
                <a:ea typeface="Touvlo" panose="020B0604030403020204"/>
                <a:cs typeface="Calibri Bold" panose="020F0702030404030204" pitchFamily="34" charset="0"/>
                <a:sym typeface="Touvlo" panose="020B0604030403020204"/>
              </a:rPr>
              <a:t>ĐẠI HỌC TRÀ VINH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0992" y="3748385"/>
            <a:ext cx="486090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0"/>
              </a:lnSpc>
            </a:pPr>
            <a:r>
              <a:rPr lang="en-US" sz="3200" b="1" spc="364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LÝ DO CHỌN ĐỀ TÀI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437" y="6156007"/>
            <a:ext cx="6944702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b="1" spc="250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PHÂN TÍCH VÀ THIẾT KẾ HỆ THỐNG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6890" y="12308563"/>
            <a:ext cx="491121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200" b="1" spc="364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KẾT QUẢ ĐẠT ĐƯỢC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37" y="18607385"/>
            <a:ext cx="634993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200" b="1" spc="364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HẠN CHẾ CỦA HỆ THỐNG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825837" y="16004505"/>
            <a:ext cx="5293263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3200" b="1" spc="314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CÔNG NGHỆ SỬ DỤNG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-79704" y="4482586"/>
            <a:ext cx="7543801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Quản lý thư viện thủ công còn nhiều hạn chế.</a:t>
            </a:r>
          </a:p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Khó tra cứu, dễ sai sót dữ liệu.</a:t>
            </a:r>
          </a:p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Ứng dụng CNTT giúp tự động hóa quản lý thư viện.</a:t>
            </a:r>
          </a:p>
          <a:p>
            <a:pPr algn="l"/>
            <a:endParaRPr lang="en-US" sz="2000">
              <a:solidFill>
                <a:srgbClr val="000000"/>
              </a:solidFill>
              <a:latin typeface="Touvlo" panose="020B0604030403020204"/>
              <a:ea typeface="Touvlo" panose="020B0604030403020204"/>
              <a:cs typeface="Touvlo" panose="020B0604030403020204"/>
              <a:sym typeface="Touvlo" panose="020B0604030403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556499" y="4193276"/>
            <a:ext cx="419724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Quản lý thông tin sách</a:t>
            </a:r>
          </a:p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Quản lý độc giả</a:t>
            </a:r>
          </a:p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Quản lý mượn – trả sách</a:t>
            </a:r>
          </a:p>
          <a:p>
            <a:pPr marL="401320" lvl="1" indent="-200660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Thống kê và báo cáo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7921" y="6601733"/>
            <a:ext cx="6753504" cy="2677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Phân tích yêu cầu người dùng (Admin).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Thiết kế sơ đồ Use Case mô tả các chức năng hệ thống.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Thiết kế cơ sở dữ liệu bằng sơ đồ ERD.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rgbClr val="000000"/>
              </a:solidFill>
              <a:latin typeface="Touvlo" panose="020B0604030403020204"/>
              <a:ea typeface="Touvlo" panose="020B0604030403020204"/>
              <a:cs typeface="Touvlo" panose="020B0604030403020204"/>
              <a:sym typeface="Touvlo" panose="020B0604030403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65100" y="12930988"/>
            <a:ext cx="6361739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Xây dựng thành công website quản lý thư viện.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Giao diện thân thiện, dễ sử dụng.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Hệ thống hỗ trợ quản lý hiệu quả hơn so với phương pháp thủ công.</a:t>
            </a:r>
          </a:p>
          <a:p>
            <a:pPr algn="l"/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Touvlo" panose="020B0604030403020204"/>
              <a:cs typeface="Arial" panose="020B0604020202020204" pitchFamily="34" charset="0"/>
              <a:sym typeface="Touvlo" panose="020B0604030403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8500" y="19145250"/>
            <a:ext cx="6393501" cy="2101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7505" lvl="1" indent="-17843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Thiết kế giao diện, màu sắc vẫn chưa được chuyên nghiệp. </a:t>
            </a:r>
          </a:p>
          <a:p>
            <a:pPr marL="357505" lvl="1" indent="-17843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Chưa tích hợp công nghệ nâng cao (QR code, RFID).</a:t>
            </a:r>
          </a:p>
          <a:p>
            <a:pPr marL="357505" lvl="1" indent="-17843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Chưa hỗ trợ quản lý nhiều thư viện.</a:t>
            </a:r>
          </a:p>
          <a:p>
            <a:pPr algn="l"/>
            <a:endParaRPr lang="en-US" sz="1655">
              <a:solidFill>
                <a:srgbClr val="000000"/>
              </a:solidFill>
              <a:latin typeface="Touvlo" panose="020B0604030403020204"/>
              <a:ea typeface="Touvlo" panose="020B0604030403020204"/>
              <a:cs typeface="Touvlo" panose="020B0604030403020204"/>
              <a:sym typeface="Touvlo" panose="020B0604030403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861300" y="16478250"/>
            <a:ext cx="578726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0045" lvl="1" indent="-17970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Ngôn ngữ: PHP, HTML, CSS, JavaScript</a:t>
            </a:r>
          </a:p>
          <a:p>
            <a:pPr marL="360045" lvl="1" indent="-17970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Cơ sở dữ liệu: MySQL</a:t>
            </a:r>
          </a:p>
          <a:p>
            <a:pPr marL="360045" lvl="1" indent="-17970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Giao diện: Bootstrap / AdminLTE</a:t>
            </a:r>
          </a:p>
          <a:p>
            <a:pPr marL="360045" lvl="1" indent="-179705" algn="l"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Môi trường: Laragon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90142" y="3610919"/>
            <a:ext cx="428595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200" b="1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CHỨC NĂNG CHÍNH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7660058" y="10113436"/>
            <a:ext cx="7364042" cy="2375873"/>
            <a:chOff x="0" y="0"/>
            <a:chExt cx="1170533" cy="46585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70533" cy="465858"/>
            </a:xfrm>
            <a:custGeom>
              <a:avLst/>
              <a:gdLst/>
              <a:ahLst/>
              <a:cxnLst/>
              <a:rect l="l" t="t" r="r" b="b"/>
              <a:pathLst>
                <a:path w="1170533" h="465858">
                  <a:moveTo>
                    <a:pt x="0" y="0"/>
                  </a:moveTo>
                  <a:lnTo>
                    <a:pt x="1170533" y="0"/>
                  </a:lnTo>
                  <a:lnTo>
                    <a:pt x="1170533" y="465858"/>
                  </a:lnTo>
                  <a:lnTo>
                    <a:pt x="0" y="46585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1170533" cy="5134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sq" cmpd="sng">
              <a:solidFill>
                <a:schemeClr val="tx1"/>
              </a:solidFill>
              <a:prstDash val="lgDashDot"/>
              <a:miter/>
            </a:ln>
          </p:spPr>
          <p:txBody>
            <a:bodyPr lIns="44941" tIns="44941" rIns="44941" bIns="44941" rtlCol="0" anchor="ctr"/>
            <a:lstStyle/>
            <a:p>
              <a:pPr algn="ctr">
                <a:lnSpc>
                  <a:spcPts val="38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842542" y="10001250"/>
            <a:ext cx="428595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200" b="1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MỤC TIÊU ĐỀ TÀI</a:t>
            </a:r>
          </a:p>
        </p:txBody>
      </p:sp>
      <p:sp>
        <p:nvSpPr>
          <p:cNvPr id="55" name="AutoShape 55"/>
          <p:cNvSpPr/>
          <p:nvPr/>
        </p:nvSpPr>
        <p:spPr>
          <a:xfrm>
            <a:off x="7632700" y="10534650"/>
            <a:ext cx="411525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TextBox 56"/>
          <p:cNvSpPr txBox="1"/>
          <p:nvPr/>
        </p:nvSpPr>
        <p:spPr>
          <a:xfrm>
            <a:off x="7556500" y="10610850"/>
            <a:ext cx="5716505" cy="214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320" lvl="1" indent="-20066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Xây dựng website quản lý thư viện.</a:t>
            </a:r>
          </a:p>
          <a:p>
            <a:pPr marL="401320" lvl="1" indent="-20066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Quản lý sách, độc giả, mượn – trả.</a:t>
            </a:r>
          </a:p>
          <a:p>
            <a:pPr marL="401320" lvl="1" indent="-20066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ea typeface="Touvlo" panose="020B0604030403020204"/>
                <a:cs typeface="Arial" panose="020B0604020202020204" pitchFamily="34" charset="0"/>
                <a:sym typeface="Touvlo" panose="020B0604030403020204"/>
              </a:rPr>
              <a:t>Giao diện thân thiện, dễ sử dụng.</a:t>
            </a:r>
          </a:p>
          <a:p>
            <a:pPr algn="l">
              <a:lnSpc>
                <a:spcPct val="150000"/>
              </a:lnSpc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Touvlo" panose="020B0604030403020204"/>
              <a:cs typeface="Arial" panose="020B0604020202020204" pitchFamily="34" charset="0"/>
              <a:sym typeface="Touvlo" panose="020B0604030403020204"/>
            </a:endParaRPr>
          </a:p>
        </p:txBody>
      </p:sp>
      <p:sp>
        <p:nvSpPr>
          <p:cNvPr id="57" name="AutoShape 57"/>
          <p:cNvSpPr/>
          <p:nvPr/>
        </p:nvSpPr>
        <p:spPr>
          <a:xfrm>
            <a:off x="7666903" y="16402050"/>
            <a:ext cx="43091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935" y="18500679"/>
            <a:ext cx="7278165" cy="26952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pic>
      <p:pic>
        <p:nvPicPr>
          <p:cNvPr id="61" name="Picture 6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6" y="15022221"/>
            <a:ext cx="7438537" cy="32848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pic>
      <p:pic>
        <p:nvPicPr>
          <p:cNvPr id="62" name="Picture 61"/>
          <p:cNvPicPr/>
          <p:nvPr/>
        </p:nvPicPr>
        <p:blipFill>
          <a:blip r:embed="rId4"/>
          <a:stretch>
            <a:fillRect/>
          </a:stretch>
        </p:blipFill>
        <p:spPr>
          <a:xfrm>
            <a:off x="24372" y="9054988"/>
            <a:ext cx="7439725" cy="29623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pic>
      <p:sp>
        <p:nvSpPr>
          <p:cNvPr id="60" name="Freeform 3"/>
          <p:cNvSpPr/>
          <p:nvPr/>
        </p:nvSpPr>
        <p:spPr>
          <a:xfrm>
            <a:off x="0" y="1"/>
            <a:ext cx="15112999" cy="1502610"/>
          </a:xfrm>
          <a:custGeom>
            <a:avLst/>
            <a:gdLst/>
            <a:ahLst/>
            <a:cxnLst/>
            <a:rect l="l" t="t" r="r" b="b"/>
            <a:pathLst>
              <a:path w="2413391" h="522197">
                <a:moveTo>
                  <a:pt x="0" y="0"/>
                </a:moveTo>
                <a:lnTo>
                  <a:pt x="2413391" y="0"/>
                </a:lnTo>
                <a:lnTo>
                  <a:pt x="2413391" y="522197"/>
                </a:lnTo>
                <a:lnTo>
                  <a:pt x="0" y="52219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" y="171450"/>
            <a:ext cx="1143000" cy="1143000"/>
          </a:xfrm>
          <a:prstGeom prst="rect">
            <a:avLst/>
          </a:prstGeom>
        </p:spPr>
      </p:pic>
      <p:sp>
        <p:nvSpPr>
          <p:cNvPr id="68" name="TextBox 37"/>
          <p:cNvSpPr txBox="1"/>
          <p:nvPr/>
        </p:nvSpPr>
        <p:spPr>
          <a:xfrm>
            <a:off x="1445249" y="314920"/>
            <a:ext cx="664465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0"/>
              </a:lnSpc>
            </a:pPr>
            <a:r>
              <a:rPr lang="en-US" sz="2800" b="1" spc="364" smtClean="0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TRƯỜNG KỸ THUẬT VÀ CÔNG NGHỆ 	TRƯỜNG ĐẠI HỌC TRÀ VINH</a:t>
            </a:r>
            <a:endParaRPr lang="en-US" sz="2800" b="1" spc="364">
              <a:solidFill>
                <a:srgbClr val="001D7A"/>
              </a:solidFill>
              <a:latin typeface="Calibri Bold" panose="020F0702030404030204" pitchFamily="34" charset="0"/>
              <a:ea typeface="Touvlo Bold" panose="020B0804030403020204"/>
              <a:cs typeface="Calibri Bold" panose="020F0702030404030204" pitchFamily="34" charset="0"/>
              <a:sym typeface="Touvlo Bold" panose="020B0804030403020204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8318500" y="109703"/>
            <a:ext cx="0" cy="1204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37"/>
          <p:cNvSpPr txBox="1"/>
          <p:nvPr/>
        </p:nvSpPr>
        <p:spPr>
          <a:xfrm>
            <a:off x="8680200" y="360427"/>
            <a:ext cx="664465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0"/>
              </a:lnSpc>
            </a:pPr>
            <a:r>
              <a:rPr lang="en-US" sz="2800" b="1" spc="364" smtClean="0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GVHD: TS.ĐOÀN PHƯỚC MIỀN</a:t>
            </a:r>
          </a:p>
          <a:p>
            <a:pPr>
              <a:lnSpc>
                <a:spcPts val="3590"/>
              </a:lnSpc>
            </a:pPr>
            <a:r>
              <a:rPr lang="en-US" sz="2800" b="1" spc="364" smtClean="0">
                <a:solidFill>
                  <a:srgbClr val="001D7A"/>
                </a:solidFill>
                <a:latin typeface="Calibri Bold" panose="020F0702030404030204" pitchFamily="34" charset="0"/>
                <a:ea typeface="Touvlo Bold" panose="020B0804030403020204"/>
                <a:cs typeface="Calibri Bold" panose="020F0702030404030204" pitchFamily="34" charset="0"/>
                <a:sym typeface="Touvlo Bold" panose="020B0804030403020204"/>
              </a:rPr>
              <a:t>SVTH: THẠCH NGUYỄN QUẾ ANH</a:t>
            </a:r>
            <a:endParaRPr lang="en-US" sz="2800" b="1" spc="364">
              <a:solidFill>
                <a:srgbClr val="001D7A"/>
              </a:solidFill>
              <a:latin typeface="Calibri Bold" panose="020F0702030404030204" pitchFamily="34" charset="0"/>
              <a:ea typeface="Touvlo Bold" panose="020B0804030403020204"/>
              <a:cs typeface="Calibri Bold" panose="020F0702030404030204" pitchFamily="34" charset="0"/>
              <a:sym typeface="Touvlo Bold" panose="020B0804030403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895" y="6071180"/>
            <a:ext cx="7301205" cy="362527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903" y="12600526"/>
            <a:ext cx="7357197" cy="30430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sq" cmpd="sng">
            <a:solidFill>
              <a:schemeClr val="tx1"/>
            </a:solidFill>
            <a:prstDash val="lgDashDot"/>
            <a:miter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272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Touvlo Bold</vt:lpstr>
      <vt:lpstr>Arial</vt:lpstr>
      <vt:lpstr>Calibri Bold</vt:lpstr>
      <vt:lpstr>Touvlo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Persuasive Research Poster in Orange Modern Simple Style</dc:title>
  <dc:creator/>
  <cp:lastModifiedBy>Microsoft account</cp:lastModifiedBy>
  <cp:revision>17</cp:revision>
  <dcterms:created xsi:type="dcterms:W3CDTF">2006-08-16T00:00:00Z</dcterms:created>
  <dcterms:modified xsi:type="dcterms:W3CDTF">2026-01-04T14:43:35Z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F614A719CD2C46C1B24C71A7F9BF8F69_12</vt:lpwstr>
  </property>
  <property fmtid="{D5CDD505-2E9C-101B-9397-08002B2CF9AE}" pid="3" name="KSOProductBuildVer">
    <vt:lpwstr>1033-12.2.0.23196</vt:lpwstr>
  </property>
</Properties>
</file>