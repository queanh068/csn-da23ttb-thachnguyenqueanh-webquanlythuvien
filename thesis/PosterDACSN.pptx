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5113000" cy="21374100"/>
  <p:notesSz cx="6858000" cy="9144000"/>
  <p:embeddedFontLst>
    <p:embeddedFont>
      <p:font typeface="Calibri" panose="020F0502020204030204" pitchFamily="34" charset="0"/>
      <p:regular r:id="rId3"/>
      <p:bold r:id="rId4"/>
      <p:italic r:id="rId5"/>
      <p:boldItalic r:id="rId6"/>
    </p:embeddedFont>
    <p:embeddedFont>
      <p:font typeface="Touvlo" panose="020B0604020202020204" charset="0"/>
      <p:regular r:id="rId7"/>
    </p:embeddedFont>
    <p:embeddedFont>
      <p:font typeface="Calibri Bold" panose="020F0702030404030204" pitchFamily="34" charset="0"/>
      <p:bold r:id="rId8"/>
    </p:embeddedFont>
    <p:embeddedFont>
      <p:font typeface="Touvlo Bold" panose="020B0604020202020204" charset="0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7A"/>
    <a:srgbClr val="F2F2EF"/>
    <a:srgbClr val="0027A4"/>
    <a:srgbClr val="002AB0"/>
    <a:srgbClr val="0033CC"/>
    <a:srgbClr val="F69685"/>
    <a:srgbClr val="DDDDDD"/>
    <a:srgbClr val="698B97"/>
    <a:srgbClr val="1E965D"/>
    <a:srgbClr val="37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0" d="100"/>
          <a:sy n="60" d="100"/>
        </p:scale>
        <p:origin x="336" y="-1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viewProps" Target="viewProps.xml"/><Relationship Id="rId5" Type="http://schemas.openxmlformats.org/officeDocument/2006/relationships/font" Target="fonts/font3.fntdata"/><Relationship Id="rId10" Type="http://schemas.openxmlformats.org/officeDocument/2006/relationships/presProps" Target="pres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46101" y="456806"/>
            <a:ext cx="14020798" cy="2806477"/>
            <a:chOff x="0" y="0"/>
            <a:chExt cx="2413391" cy="522197"/>
          </a:xfrm>
          <a:solidFill>
            <a:schemeClr val="bg1">
              <a:lumMod val="95000"/>
            </a:schemeClr>
          </a:solidFill>
        </p:grpSpPr>
        <p:sp>
          <p:nvSpPr>
            <p:cNvPr id="3" name="Freeform 3"/>
            <p:cNvSpPr/>
            <p:nvPr/>
          </p:nvSpPr>
          <p:spPr>
            <a:xfrm>
              <a:off x="0" y="0"/>
              <a:ext cx="2413391" cy="522197"/>
            </a:xfrm>
            <a:custGeom>
              <a:avLst/>
              <a:gdLst/>
              <a:ahLst/>
              <a:cxnLst/>
              <a:rect l="l" t="t" r="r" b="b"/>
              <a:pathLst>
                <a:path w="2413391" h="522197">
                  <a:moveTo>
                    <a:pt x="0" y="0"/>
                  </a:moveTo>
                  <a:lnTo>
                    <a:pt x="2413391" y="0"/>
                  </a:lnTo>
                  <a:lnTo>
                    <a:pt x="2413391" y="522197"/>
                  </a:lnTo>
                  <a:lnTo>
                    <a:pt x="0" y="522197"/>
                  </a:lnTo>
                  <a:close/>
                </a:path>
              </a:pathLst>
            </a:custGeom>
            <a:grpFill/>
            <a:ln w="19050" cap="sq">
              <a:solidFill>
                <a:schemeClr val="accent1">
                  <a:lumMod val="60000"/>
                  <a:lumOff val="40000"/>
                </a:schemeClr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13391" cy="569822"/>
            </a:xfrm>
            <a:prstGeom prst="rect">
              <a:avLst/>
            </a:prstGeom>
            <a:grpFill/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txBody>
            <a:bodyPr lIns="44941" tIns="44941" rIns="44941" bIns="44941" rtlCol="0" anchor="ctr"/>
            <a:lstStyle/>
            <a:p>
              <a:pPr algn="ctr">
                <a:lnSpc>
                  <a:spcPts val="3839"/>
                </a:lnSpc>
                <a:spcBef>
                  <a:spcPct val="0"/>
                </a:spcBef>
              </a:pPr>
              <a:endParaRPr>
                <a:solidFill>
                  <a:schemeClr val="bg1">
                    <a:lumMod val="75000"/>
                  </a:schemeClr>
                </a:solidFill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46101" y="3524249"/>
            <a:ext cx="7013900" cy="2362201"/>
            <a:chOff x="0" y="0"/>
            <a:chExt cx="1206695" cy="46857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06695" cy="468576"/>
            </a:xfrm>
            <a:custGeom>
              <a:avLst/>
              <a:gdLst/>
              <a:ahLst/>
              <a:cxnLst/>
              <a:rect l="l" t="t" r="r" b="b"/>
              <a:pathLst>
                <a:path w="1206695" h="468576">
                  <a:moveTo>
                    <a:pt x="0" y="0"/>
                  </a:moveTo>
                  <a:lnTo>
                    <a:pt x="1206695" y="0"/>
                  </a:lnTo>
                  <a:lnTo>
                    <a:pt x="1206695" y="468576"/>
                  </a:lnTo>
                  <a:lnTo>
                    <a:pt x="0" y="468576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9050" cap="sq">
              <a:solidFill>
                <a:schemeClr val="accent1">
                  <a:lumMod val="60000"/>
                  <a:lumOff val="40000"/>
                </a:schemeClr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206695" cy="516201"/>
            </a:xfrm>
            <a:prstGeom prst="rect">
              <a:avLst/>
            </a:prstGeom>
          </p:spPr>
          <p:txBody>
            <a:bodyPr lIns="44941" tIns="44941" rIns="44941" bIns="44941" rtlCol="0" anchor="ctr"/>
            <a:lstStyle/>
            <a:p>
              <a:pPr algn="ctr">
                <a:lnSpc>
                  <a:spcPts val="3839"/>
                </a:lnSpc>
                <a:spcBef>
                  <a:spcPct val="0"/>
                </a:spcBef>
              </a:pPr>
              <a:endParaRPr>
                <a:solidFill>
                  <a:srgbClr val="F2F2EF"/>
                </a:solidFill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546101" y="6097443"/>
            <a:ext cx="7010751" cy="2856799"/>
            <a:chOff x="0" y="0"/>
            <a:chExt cx="1206695" cy="130640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06695" cy="1306406"/>
            </a:xfrm>
            <a:custGeom>
              <a:avLst/>
              <a:gdLst/>
              <a:ahLst/>
              <a:cxnLst/>
              <a:rect l="l" t="t" r="r" b="b"/>
              <a:pathLst>
                <a:path w="1206695" h="1306406">
                  <a:moveTo>
                    <a:pt x="0" y="0"/>
                  </a:moveTo>
                  <a:lnTo>
                    <a:pt x="1206695" y="0"/>
                  </a:lnTo>
                  <a:lnTo>
                    <a:pt x="1206695" y="1306406"/>
                  </a:lnTo>
                  <a:lnTo>
                    <a:pt x="0" y="1306406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9050" cap="sq">
              <a:solidFill>
                <a:schemeClr val="accent1">
                  <a:lumMod val="60000"/>
                  <a:lumOff val="40000"/>
                </a:schemeClr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206695" cy="1354031"/>
            </a:xfrm>
            <a:prstGeom prst="rect">
              <a:avLst/>
            </a:prstGeom>
          </p:spPr>
          <p:txBody>
            <a:bodyPr lIns="44941" tIns="44941" rIns="44941" bIns="44941" rtlCol="0" anchor="ctr"/>
            <a:lstStyle/>
            <a:p>
              <a:pPr algn="ctr">
                <a:lnSpc>
                  <a:spcPts val="383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890420" y="3524249"/>
            <a:ext cx="6676479" cy="2362201"/>
            <a:chOff x="0" y="0"/>
            <a:chExt cx="1170533" cy="46585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170533" cy="465858"/>
            </a:xfrm>
            <a:custGeom>
              <a:avLst/>
              <a:gdLst/>
              <a:ahLst/>
              <a:cxnLst/>
              <a:rect l="l" t="t" r="r" b="b"/>
              <a:pathLst>
                <a:path w="1170533" h="465858">
                  <a:moveTo>
                    <a:pt x="0" y="0"/>
                  </a:moveTo>
                  <a:lnTo>
                    <a:pt x="1170533" y="0"/>
                  </a:lnTo>
                  <a:lnTo>
                    <a:pt x="1170533" y="465858"/>
                  </a:lnTo>
                  <a:lnTo>
                    <a:pt x="0" y="465858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9050" cap="sq">
              <a:solidFill>
                <a:schemeClr val="accent1">
                  <a:lumMod val="60000"/>
                  <a:lumOff val="40000"/>
                </a:schemeClr>
              </a:solidFill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170533" cy="513483"/>
            </a:xfrm>
            <a:prstGeom prst="rect">
              <a:avLst/>
            </a:prstGeom>
          </p:spPr>
          <p:txBody>
            <a:bodyPr lIns="44941" tIns="44941" rIns="44941" bIns="44941" rtlCol="0" anchor="ctr"/>
            <a:lstStyle/>
            <a:p>
              <a:pPr algn="ctr">
                <a:lnSpc>
                  <a:spcPts val="383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622300" y="12217248"/>
            <a:ext cx="6934553" cy="2720994"/>
          </a:xfrm>
          <a:custGeom>
            <a:avLst/>
            <a:gdLst/>
            <a:ahLst/>
            <a:cxnLst/>
            <a:rect l="l" t="t" r="r" b="b"/>
            <a:pathLst>
              <a:path w="1206695" h="829268">
                <a:moveTo>
                  <a:pt x="0" y="0"/>
                </a:moveTo>
                <a:lnTo>
                  <a:pt x="1206695" y="0"/>
                </a:lnTo>
                <a:lnTo>
                  <a:pt x="1206695" y="829268"/>
                </a:lnTo>
                <a:lnTo>
                  <a:pt x="0" y="82926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 cap="sq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</p:sp>
      <p:grpSp>
        <p:nvGrpSpPr>
          <p:cNvPr id="19" name="Group 19"/>
          <p:cNvGrpSpPr/>
          <p:nvPr/>
        </p:nvGrpSpPr>
        <p:grpSpPr>
          <a:xfrm>
            <a:off x="7937499" y="15868650"/>
            <a:ext cx="6629399" cy="2632028"/>
            <a:chOff x="0" y="0"/>
            <a:chExt cx="1170533" cy="38173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170533" cy="381732"/>
            </a:xfrm>
            <a:custGeom>
              <a:avLst/>
              <a:gdLst/>
              <a:ahLst/>
              <a:cxnLst/>
              <a:rect l="l" t="t" r="r" b="b"/>
              <a:pathLst>
                <a:path w="1170533" h="381732">
                  <a:moveTo>
                    <a:pt x="0" y="0"/>
                  </a:moveTo>
                  <a:lnTo>
                    <a:pt x="1170533" y="0"/>
                  </a:lnTo>
                  <a:lnTo>
                    <a:pt x="1170533" y="381732"/>
                  </a:lnTo>
                  <a:lnTo>
                    <a:pt x="0" y="381732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9050" cap="sq">
              <a:solidFill>
                <a:schemeClr val="accent1">
                  <a:lumMod val="60000"/>
                  <a:lumOff val="40000"/>
                </a:schemeClr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1170533" cy="429357"/>
            </a:xfrm>
            <a:prstGeom prst="rect">
              <a:avLst/>
            </a:prstGeom>
          </p:spPr>
          <p:txBody>
            <a:bodyPr lIns="44941" tIns="44941" rIns="44941" bIns="44941" rtlCol="0" anchor="ctr"/>
            <a:lstStyle/>
            <a:p>
              <a:pPr algn="ctr">
                <a:lnSpc>
                  <a:spcPts val="383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2" name="AutoShape 22"/>
          <p:cNvSpPr/>
          <p:nvPr/>
        </p:nvSpPr>
        <p:spPr>
          <a:xfrm>
            <a:off x="546100" y="4057650"/>
            <a:ext cx="465950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3" name="AutoShape 23"/>
          <p:cNvSpPr/>
          <p:nvPr/>
        </p:nvSpPr>
        <p:spPr>
          <a:xfrm>
            <a:off x="535951" y="6572250"/>
            <a:ext cx="503934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4" name="AutoShape 24"/>
          <p:cNvSpPr/>
          <p:nvPr/>
        </p:nvSpPr>
        <p:spPr>
          <a:xfrm>
            <a:off x="7890421" y="4144319"/>
            <a:ext cx="4115253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5" name="AutoShape 25"/>
          <p:cNvSpPr/>
          <p:nvPr/>
        </p:nvSpPr>
        <p:spPr>
          <a:xfrm>
            <a:off x="622300" y="12820650"/>
            <a:ext cx="498234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7" name="Freeform 27"/>
          <p:cNvSpPr/>
          <p:nvPr/>
        </p:nvSpPr>
        <p:spPr>
          <a:xfrm>
            <a:off x="573460" y="18499003"/>
            <a:ext cx="7086599" cy="2575473"/>
          </a:xfrm>
          <a:custGeom>
            <a:avLst/>
            <a:gdLst/>
            <a:ahLst/>
            <a:cxnLst/>
            <a:rect l="l" t="t" r="r" b="b"/>
            <a:pathLst>
              <a:path w="1170533" h="459942">
                <a:moveTo>
                  <a:pt x="0" y="0"/>
                </a:moveTo>
                <a:lnTo>
                  <a:pt x="1170533" y="0"/>
                </a:lnTo>
                <a:lnTo>
                  <a:pt x="1170533" y="459942"/>
                </a:lnTo>
                <a:lnTo>
                  <a:pt x="0" y="45994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 cap="sq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</p:sp>
      <p:sp>
        <p:nvSpPr>
          <p:cNvPr id="29" name="AutoShape 29"/>
          <p:cNvSpPr/>
          <p:nvPr/>
        </p:nvSpPr>
        <p:spPr>
          <a:xfrm>
            <a:off x="622300" y="19069050"/>
            <a:ext cx="46340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6" name="TextBox 36"/>
          <p:cNvSpPr txBox="1"/>
          <p:nvPr/>
        </p:nvSpPr>
        <p:spPr>
          <a:xfrm>
            <a:off x="622300" y="273725"/>
            <a:ext cx="13716000" cy="20313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6600" b="1">
                <a:solidFill>
                  <a:srgbClr val="001D7A"/>
                </a:solidFill>
                <a:latin typeface="Calibri Bold" panose="020F0702030404030204" pitchFamily="34" charset="0"/>
                <a:ea typeface="Touvlo"/>
                <a:cs typeface="Calibri Bold" panose="020F0702030404030204" pitchFamily="34" charset="0"/>
                <a:sym typeface="Touvlo"/>
              </a:rPr>
              <a:t>THIẾT KẾ WEBSITE QUẢN LÝ THƯ VIỆN </a:t>
            </a:r>
            <a:r>
              <a:rPr lang="en-US" sz="6600" b="1" smtClean="0">
                <a:solidFill>
                  <a:srgbClr val="001D7A"/>
                </a:solidFill>
                <a:latin typeface="Calibri Bold" panose="020F0702030404030204" pitchFamily="34" charset="0"/>
                <a:ea typeface="Touvlo"/>
                <a:cs typeface="Calibri Bold" panose="020F0702030404030204" pitchFamily="34" charset="0"/>
                <a:sym typeface="Touvlo"/>
              </a:rPr>
              <a:t>TRƯỜNG </a:t>
            </a:r>
            <a:r>
              <a:rPr lang="en-US" sz="6600" b="1">
                <a:solidFill>
                  <a:srgbClr val="001D7A"/>
                </a:solidFill>
                <a:latin typeface="Calibri Bold" panose="020F0702030404030204" pitchFamily="34" charset="0"/>
                <a:ea typeface="Touvlo"/>
                <a:cs typeface="Calibri Bold" panose="020F0702030404030204" pitchFamily="34" charset="0"/>
                <a:sym typeface="Touvlo"/>
              </a:rPr>
              <a:t>ĐẠI HỌC TRÀ VINH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22300" y="3600450"/>
            <a:ext cx="4860908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591"/>
              </a:lnSpc>
            </a:pPr>
            <a:r>
              <a:rPr lang="en-US" sz="3200" b="1" spc="364">
                <a:solidFill>
                  <a:srgbClr val="001D7A"/>
                </a:solidFill>
                <a:latin typeface="Calibri Bold" panose="020F0702030404030204" pitchFamily="34" charset="0"/>
                <a:ea typeface="Touvlo Bold"/>
                <a:cs typeface="Calibri Bold" panose="020F0702030404030204" pitchFamily="34" charset="0"/>
                <a:sym typeface="Touvlo Bold"/>
              </a:rPr>
              <a:t>LÝ DO CHỌN ĐỀ TÀI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22300" y="6156007"/>
            <a:ext cx="6944702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3200" b="1" spc="250">
                <a:solidFill>
                  <a:srgbClr val="001D7A"/>
                </a:solidFill>
                <a:latin typeface="Calibri Bold" panose="020F0702030404030204" pitchFamily="34" charset="0"/>
                <a:ea typeface="Touvlo Bold"/>
                <a:cs typeface="Calibri Bold" panose="020F0702030404030204" pitchFamily="34" charset="0"/>
                <a:sym typeface="Touvlo Bold"/>
              </a:rPr>
              <a:t>PHÂN TÍCH VÀ THIẾT KẾ HỆ THỐNG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98500" y="12308563"/>
            <a:ext cx="4911210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91"/>
              </a:lnSpc>
            </a:pPr>
            <a:r>
              <a:rPr lang="en-US" sz="3200" b="1" spc="364">
                <a:solidFill>
                  <a:srgbClr val="001D7A"/>
                </a:solidFill>
                <a:latin typeface="Calibri Bold" panose="020F0702030404030204" pitchFamily="34" charset="0"/>
                <a:ea typeface="Touvlo Bold"/>
                <a:cs typeface="Calibri Bold" panose="020F0702030404030204" pitchFamily="34" charset="0"/>
                <a:sym typeface="Touvlo Bold"/>
              </a:rPr>
              <a:t>KẾT QUẢ ĐẠT ĐƯỢC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98500" y="18607385"/>
            <a:ext cx="6349937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91"/>
              </a:lnSpc>
            </a:pPr>
            <a:r>
              <a:rPr lang="en-US" sz="3200" b="1" spc="364">
                <a:solidFill>
                  <a:srgbClr val="001D7A"/>
                </a:solidFill>
                <a:latin typeface="Calibri Bold" panose="020F0702030404030204" pitchFamily="34" charset="0"/>
                <a:ea typeface="Touvlo Bold"/>
                <a:cs typeface="Calibri Bold" panose="020F0702030404030204" pitchFamily="34" charset="0"/>
                <a:sym typeface="Touvlo Bold"/>
              </a:rPr>
              <a:t>HẠN CHẾ CỦA HỆ THỐNG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013700" y="16004505"/>
            <a:ext cx="5293263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96"/>
              </a:lnSpc>
            </a:pPr>
            <a:r>
              <a:rPr lang="en-US" sz="3200" b="1" spc="314">
                <a:solidFill>
                  <a:srgbClr val="001D7A"/>
                </a:solidFill>
                <a:latin typeface="Calibri Bold" panose="020F0702030404030204" pitchFamily="34" charset="0"/>
                <a:ea typeface="Touvlo Bold"/>
                <a:cs typeface="Calibri Bold" panose="020F0702030404030204" pitchFamily="34" charset="0"/>
                <a:sym typeface="Touvlo Bold"/>
              </a:rPr>
              <a:t>CÔNG NGHỆ SỬ DỤNG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35951" y="4184995"/>
            <a:ext cx="6839853" cy="17851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01100" lvl="1" indent="-200550" algn="l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Quản lý thư viện thủ công còn nhiều hạn chế.</a:t>
            </a:r>
          </a:p>
          <a:p>
            <a:pPr marL="401100" lvl="1" indent="-200550" algn="l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Khó tra cứu, dễ sai sót dữ liệu.</a:t>
            </a:r>
          </a:p>
          <a:p>
            <a:pPr marL="401100" lvl="1" indent="-200550" algn="l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Ứng dụng CNTT giúp tự động hóa quản lý thư viện.</a:t>
            </a:r>
          </a:p>
          <a:p>
            <a:pPr algn="l"/>
            <a:endParaRPr lang="en-US" sz="2000">
              <a:solidFill>
                <a:srgbClr val="000000"/>
              </a:solidFill>
              <a:latin typeface="Touvlo"/>
              <a:ea typeface="Touvlo"/>
              <a:cs typeface="Touvlo"/>
              <a:sym typeface="Touvlo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7861300" y="4256722"/>
            <a:ext cx="4197247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01100" lvl="1" indent="-200550" algn="l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Quản lý thông tin sách</a:t>
            </a:r>
          </a:p>
          <a:p>
            <a:pPr marL="401100" lvl="1" indent="-200550" algn="l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Quản lý độc giả</a:t>
            </a:r>
          </a:p>
          <a:p>
            <a:pPr marL="401100" lvl="1" indent="-200550" algn="l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Quản lý mượn – trả sách</a:t>
            </a:r>
          </a:p>
          <a:p>
            <a:pPr marL="401100" lvl="1" indent="-200550" algn="l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Thống kê và báo cáo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22300" y="6713994"/>
            <a:ext cx="6753504" cy="2677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Phân tích yêu cầu người dùng (Admin).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Thiết kế sơ đồ Use Case mô tả các chức năng hệ thống.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Thiết kế cơ sở dữ liệu bằng sơ đồ ERD.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>
              <a:solidFill>
                <a:srgbClr val="000000"/>
              </a:solidFill>
              <a:latin typeface="Touvlo"/>
              <a:ea typeface="Touvlo"/>
              <a:cs typeface="Touvlo"/>
              <a:sym typeface="Touvlo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686698" y="12930988"/>
            <a:ext cx="6361739" cy="2215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Xây dựng thành công website quản lý thư viện.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Giao diện thân thiện, dễ sử dụng.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Hệ thống hỗ trợ quản lý hiệu quả hơn so với phương pháp thủ công.</a:t>
            </a:r>
          </a:p>
          <a:p>
            <a:pPr algn="l"/>
            <a:endParaRPr lang="en-US" sz="2400">
              <a:solidFill>
                <a:srgbClr val="000000"/>
              </a:solidFill>
              <a:latin typeface="Arial" panose="020B0604020202020204" pitchFamily="34" charset="0"/>
              <a:ea typeface="Touvlo"/>
              <a:cs typeface="Arial" panose="020B0604020202020204" pitchFamily="34" charset="0"/>
              <a:sym typeface="Touvlo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698500" y="19145250"/>
            <a:ext cx="6393501" cy="21012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57208" lvl="1" indent="-178604" algn="l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Thiết kế giao diện, màu sắc vẫn chưa được chuyên nghiệp. </a:t>
            </a:r>
          </a:p>
          <a:p>
            <a:pPr marL="357208" lvl="1" indent="-178604" algn="l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Chưa tích hợp công nghệ nâng cao (QR code, RFID).</a:t>
            </a:r>
          </a:p>
          <a:p>
            <a:pPr marL="357208" lvl="1" indent="-178604" algn="l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Chưa hỗ trợ quản lý nhiều thư viện.</a:t>
            </a:r>
          </a:p>
          <a:p>
            <a:pPr algn="l"/>
            <a:endParaRPr lang="en-US" sz="1654">
              <a:solidFill>
                <a:srgbClr val="000000"/>
              </a:solidFill>
              <a:latin typeface="Touvlo"/>
              <a:ea typeface="Touvlo"/>
              <a:cs typeface="Touvlo"/>
              <a:sym typeface="Touvlo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7861300" y="16478250"/>
            <a:ext cx="5787265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59791" lvl="1" indent="-179895" algn="l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Ngôn ngữ: PHP, HTML, CSS, JavaScript</a:t>
            </a:r>
          </a:p>
          <a:p>
            <a:pPr marL="359791" lvl="1" indent="-179895" algn="l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Cơ sở dữ liệu: MySQL</a:t>
            </a:r>
          </a:p>
          <a:p>
            <a:pPr marL="359791" lvl="1" indent="-179895" algn="l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Giao diện: Bootstrap / AdminLTE</a:t>
            </a:r>
          </a:p>
          <a:p>
            <a:pPr marL="359791" lvl="1" indent="-179895" algn="l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Môi trường: Laragon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7994942" y="3610919"/>
            <a:ext cx="4285958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199"/>
              </a:lnSpc>
              <a:spcBef>
                <a:spcPct val="0"/>
              </a:spcBef>
            </a:pPr>
            <a:r>
              <a:rPr lang="en-US" sz="3200" b="1">
                <a:solidFill>
                  <a:srgbClr val="001D7A"/>
                </a:solidFill>
                <a:latin typeface="Calibri Bold" panose="020F0702030404030204" pitchFamily="34" charset="0"/>
                <a:ea typeface="Touvlo Bold"/>
                <a:cs typeface="Calibri Bold" panose="020F0702030404030204" pitchFamily="34" charset="0"/>
                <a:sym typeface="Touvlo Bold"/>
              </a:rPr>
              <a:t>CHỨC NĂNG CHÍNH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7890421" y="10306050"/>
            <a:ext cx="6676478" cy="2261262"/>
            <a:chOff x="0" y="0"/>
            <a:chExt cx="1170533" cy="465858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1170533" cy="465858"/>
            </a:xfrm>
            <a:custGeom>
              <a:avLst/>
              <a:gdLst/>
              <a:ahLst/>
              <a:cxnLst/>
              <a:rect l="l" t="t" r="r" b="b"/>
              <a:pathLst>
                <a:path w="1170533" h="465858">
                  <a:moveTo>
                    <a:pt x="0" y="0"/>
                  </a:moveTo>
                  <a:lnTo>
                    <a:pt x="1170533" y="0"/>
                  </a:lnTo>
                  <a:lnTo>
                    <a:pt x="1170533" y="465858"/>
                  </a:lnTo>
                  <a:lnTo>
                    <a:pt x="0" y="465858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9050" cap="sq">
              <a:solidFill>
                <a:schemeClr val="accent1">
                  <a:lumMod val="60000"/>
                  <a:lumOff val="40000"/>
                </a:schemeClr>
              </a:solidFill>
              <a:prstDash val="solid"/>
              <a:miter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1170533" cy="513483"/>
            </a:xfrm>
            <a:prstGeom prst="rect">
              <a:avLst/>
            </a:prstGeom>
          </p:spPr>
          <p:txBody>
            <a:bodyPr lIns="44941" tIns="44941" rIns="44941" bIns="44941" rtlCol="0" anchor="ctr"/>
            <a:lstStyle/>
            <a:p>
              <a:pPr algn="ctr">
                <a:lnSpc>
                  <a:spcPts val="383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8006091" y="10334834"/>
            <a:ext cx="4285958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199"/>
              </a:lnSpc>
              <a:spcBef>
                <a:spcPct val="0"/>
              </a:spcBef>
            </a:pPr>
            <a:r>
              <a:rPr lang="en-US" sz="3200" b="1">
                <a:solidFill>
                  <a:srgbClr val="001D7A"/>
                </a:solidFill>
                <a:latin typeface="Calibri Bold" panose="020F0702030404030204" pitchFamily="34" charset="0"/>
                <a:ea typeface="Touvlo Bold"/>
                <a:cs typeface="Calibri Bold" panose="020F0702030404030204" pitchFamily="34" charset="0"/>
                <a:sym typeface="Touvlo Bold"/>
              </a:rPr>
              <a:t>MỤC TIÊU ĐỀ TÀI</a:t>
            </a:r>
          </a:p>
        </p:txBody>
      </p:sp>
      <p:sp>
        <p:nvSpPr>
          <p:cNvPr id="55" name="AutoShape 55"/>
          <p:cNvSpPr/>
          <p:nvPr/>
        </p:nvSpPr>
        <p:spPr>
          <a:xfrm>
            <a:off x="7887273" y="10869456"/>
            <a:ext cx="4115253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6" name="TextBox 56"/>
          <p:cNvSpPr txBox="1"/>
          <p:nvPr/>
        </p:nvSpPr>
        <p:spPr>
          <a:xfrm>
            <a:off x="7815126" y="10832528"/>
            <a:ext cx="5716505" cy="2147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1100" lvl="1" indent="-200550" algn="l">
              <a:lnSpc>
                <a:spcPct val="150000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Xây dựng website quản lý thư viện.</a:t>
            </a:r>
          </a:p>
          <a:p>
            <a:pPr marL="401100" lvl="1" indent="-200550" algn="l">
              <a:lnSpc>
                <a:spcPct val="150000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Quản lý sách, độc giả, mượn – trả.</a:t>
            </a:r>
          </a:p>
          <a:p>
            <a:pPr marL="401100" lvl="1" indent="-200550" algn="l">
              <a:lnSpc>
                <a:spcPct val="150000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rial" panose="020B0604020202020204" pitchFamily="34" charset="0"/>
                <a:ea typeface="Touvlo"/>
                <a:cs typeface="Arial" panose="020B0604020202020204" pitchFamily="34" charset="0"/>
                <a:sym typeface="Touvlo"/>
              </a:rPr>
              <a:t>Giao diện thân thiện, dễ sử dụng.</a:t>
            </a:r>
          </a:p>
          <a:p>
            <a:pPr algn="l">
              <a:lnSpc>
                <a:spcPct val="150000"/>
              </a:lnSpc>
            </a:pPr>
            <a:endParaRPr lang="en-US" sz="2400">
              <a:solidFill>
                <a:srgbClr val="000000"/>
              </a:solidFill>
              <a:latin typeface="Arial" panose="020B0604020202020204" pitchFamily="34" charset="0"/>
              <a:ea typeface="Touvlo"/>
              <a:cs typeface="Arial" panose="020B0604020202020204" pitchFamily="34" charset="0"/>
              <a:sym typeface="Touvlo"/>
            </a:endParaRPr>
          </a:p>
        </p:txBody>
      </p:sp>
      <p:sp>
        <p:nvSpPr>
          <p:cNvPr id="57" name="AutoShape 57"/>
          <p:cNvSpPr/>
          <p:nvPr/>
        </p:nvSpPr>
        <p:spPr>
          <a:xfrm>
            <a:off x="7982852" y="16402050"/>
            <a:ext cx="4309197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58" name="Picture 57"/>
          <p:cNvPicPr/>
          <p:nvPr/>
        </p:nvPicPr>
        <p:blipFill>
          <a:blip r:embed="rId2"/>
          <a:stretch>
            <a:fillRect/>
          </a:stretch>
        </p:blipFill>
        <p:spPr>
          <a:xfrm>
            <a:off x="7887786" y="6038850"/>
            <a:ext cx="6679113" cy="4070309"/>
          </a:xfrm>
          <a:prstGeom prst="rect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59" name="Picture 5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852" y="18675017"/>
            <a:ext cx="6584046" cy="2364925"/>
          </a:xfrm>
          <a:prstGeom prst="rect">
            <a:avLst/>
          </a:prstGeom>
        </p:spPr>
      </p:pic>
      <p:pic>
        <p:nvPicPr>
          <p:cNvPr id="61" name="Picture 60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300" y="15130195"/>
            <a:ext cx="7006699" cy="3176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Picture 61"/>
          <p:cNvPicPr/>
          <p:nvPr/>
        </p:nvPicPr>
        <p:blipFill>
          <a:blip r:embed="rId5"/>
          <a:stretch>
            <a:fillRect/>
          </a:stretch>
        </p:blipFill>
        <p:spPr>
          <a:xfrm>
            <a:off x="535951" y="9086850"/>
            <a:ext cx="7020901" cy="3022744"/>
          </a:xfrm>
          <a:prstGeom prst="rect">
            <a:avLst/>
          </a:prstGeom>
        </p:spPr>
      </p:pic>
      <p:pic>
        <p:nvPicPr>
          <p:cNvPr id="63" name="Picture 62"/>
          <p:cNvPicPr/>
          <p:nvPr/>
        </p:nvPicPr>
        <p:blipFill>
          <a:blip r:embed="rId6"/>
          <a:stretch>
            <a:fillRect/>
          </a:stretch>
        </p:blipFill>
        <p:spPr>
          <a:xfrm>
            <a:off x="7887273" y="12744450"/>
            <a:ext cx="6679625" cy="297033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255</Words>
  <Application>Microsoft Office PowerPoint</Application>
  <PresentationFormat>Custom</PresentationFormat>
  <Paragraphs>31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Calibri</vt:lpstr>
      <vt:lpstr>Touvlo</vt:lpstr>
      <vt:lpstr>Calibri Bold</vt:lpstr>
      <vt:lpstr>Arial</vt:lpstr>
      <vt:lpstr>Touvlo 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Persuasive Research Poster in Orange Modern Simple Style</dc:title>
  <cp:lastModifiedBy>Microsoft account</cp:lastModifiedBy>
  <cp:revision>9</cp:revision>
  <dcterms:created xsi:type="dcterms:W3CDTF">2006-08-16T00:00:00Z</dcterms:created>
  <dcterms:modified xsi:type="dcterms:W3CDTF">2025-12-27T11:29:50Z</dcterms:modified>
  <dc:identifier>DAG8sEjlIJY</dc:identifier>
</cp:coreProperties>
</file>